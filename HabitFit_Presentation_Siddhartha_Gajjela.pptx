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0D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961120" y="-1097280"/>
            <a:ext cx="5029200" cy="5029200"/>
          </a:xfrm>
          <a:prstGeom prst="ellipse">
            <a:avLst/>
          </a:prstGeom>
          <a:solidFill>
            <a:srgbClr val="1613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92640" y="3200400"/>
            <a:ext cx="3474720" cy="3474720"/>
          </a:xfrm>
          <a:prstGeom prst="ellipse">
            <a:avLst/>
          </a:prstGeom>
          <a:solidFill>
            <a:srgbClr val="0D1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4114800" cy="54864"/>
          </a:xfrm>
          <a:prstGeom prst="rect">
            <a:avLst/>
          </a:prstGeom>
          <a:solidFill>
            <a:srgbClr val="E8B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008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8B84B"/>
                </a:solidFill>
                <a:latin typeface="Syne"/>
              </a:rPr>
              <a:t>HABIT.FIT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1430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B5563"/>
                </a:solidFill>
                <a:latin typeface="Syne"/>
              </a:rPr>
              <a:t>BUILD UNSTOPPABLE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481328"/>
            <a:ext cx="3657600" cy="7315"/>
          </a:xfrm>
          <a:prstGeom prst="rect">
            <a:avLst/>
          </a:prstGeom>
          <a:solidFill>
            <a:srgbClr val="1E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737360"/>
            <a:ext cx="6858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Syne"/>
              </a:rPr>
              <a:t>Daily Habit Tracker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69748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22D3A8"/>
                </a:solidFill>
                <a:latin typeface="DM Sans"/>
              </a:rPr>
              <a:t>Design  ·  Development  ·  Deployment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246120"/>
            <a:ext cx="6583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CA3AF"/>
                </a:solidFill>
                <a:latin typeface="DM Sans"/>
              </a:rPr>
              <a:t>A full-stack habit tracking application with AI-powered insights,
interactive analytics, and personalized achievement systems.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4187952"/>
            <a:ext cx="3657600" cy="7315"/>
          </a:xfrm>
          <a:prstGeom prst="rect">
            <a:avLst/>
          </a:prstGeom>
          <a:solidFill>
            <a:srgbClr val="1E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4279392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B5563"/>
                </a:solidFill>
                <a:latin typeface="DM Sans"/>
              </a:rPr>
              <a:t>Presented by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526280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E8B84B"/>
                </a:solidFill>
                <a:latin typeface="Syne"/>
              </a:rPr>
              <a:t>Siddhartha Gajjela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010912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CA3AF"/>
                </a:solidFill>
                <a:latin typeface="DM Sans"/>
              </a:rPr>
              <a:t>Java Cohort  ·  Internal Hackathon  ·  Problem Statement 6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5596128"/>
            <a:ext cx="1325880" cy="256032"/>
          </a:xfrm>
          <a:prstGeom prst="rect">
            <a:avLst/>
          </a:prstGeom>
          <a:solidFill>
            <a:srgbClr val="0D2E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5632704"/>
            <a:ext cx="1234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22D3A8"/>
                </a:solidFill>
                <a:latin typeface="Syne"/>
              </a:rPr>
              <a:t>React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103120" y="5596128"/>
            <a:ext cx="1325880" cy="256032"/>
          </a:xfrm>
          <a:prstGeom prst="rect">
            <a:avLst/>
          </a:prstGeom>
          <a:solidFill>
            <a:srgbClr val="2E24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148840" y="5632704"/>
            <a:ext cx="1234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E8B84B"/>
                </a:solidFill>
                <a:latin typeface="Syne"/>
              </a:rPr>
              <a:t>Java Spring Boot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566160" y="5596128"/>
            <a:ext cx="1325880" cy="256032"/>
          </a:xfrm>
          <a:prstGeom prst="rect">
            <a:avLst/>
          </a:prstGeom>
          <a:solidFill>
            <a:srgbClr val="1A1C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11880" y="5632704"/>
            <a:ext cx="1234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818CF8"/>
                </a:solidFill>
                <a:latin typeface="Syne"/>
              </a:rPr>
              <a:t>MySQL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0" y="5596128"/>
            <a:ext cx="1325880" cy="256032"/>
          </a:xfrm>
          <a:prstGeom prst="rect">
            <a:avLst/>
          </a:prstGeom>
          <a:solidFill>
            <a:srgbClr val="2E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74920" y="5632704"/>
            <a:ext cx="1234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472B6"/>
                </a:solidFill>
                <a:latin typeface="Syne"/>
              </a:rPr>
              <a:t>AI Insights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4B5563"/>
                </a:solidFill>
                <a:latin typeface="Syne"/>
              </a:rPr>
              <a:t>01 / 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0D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E8B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8B84B"/>
                </a:solidFill>
                <a:latin typeface="Syne"/>
              </a:rPr>
              <a:t>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04672"/>
            <a:ext cx="7315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Syne"/>
              </a:rPr>
              <a:t>What We'll Cover Today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45920"/>
            <a:ext cx="475488" cy="411480"/>
          </a:xfrm>
          <a:prstGeom prst="rect">
            <a:avLst/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655064"/>
            <a:ext cx="4754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2D3A8"/>
                </a:solidFill>
                <a:latin typeface="Syne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1600200"/>
            <a:ext cx="5120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yne"/>
              </a:rPr>
              <a:t>Problem Statement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1874520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CA3AF"/>
                </a:solidFill>
                <a:latin typeface="DM Sans"/>
              </a:rPr>
              <a:t>What we set out to solve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441448"/>
            <a:ext cx="475488" cy="411480"/>
          </a:xfrm>
          <a:prstGeom prst="rect">
            <a:avLst/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450592"/>
            <a:ext cx="4754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E8B84B"/>
                </a:solidFill>
                <a:latin typeface="Syne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2395728"/>
            <a:ext cx="5120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yne"/>
              </a:rPr>
              <a:t>Objectives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2670048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CA3AF"/>
                </a:solidFill>
                <a:latin typeface="DM Sans"/>
              </a:rPr>
              <a:t>Goals and success criteria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236976"/>
            <a:ext cx="475488" cy="411480"/>
          </a:xfrm>
          <a:prstGeom prst="rect">
            <a:avLst/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3246120"/>
            <a:ext cx="4754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818CF8"/>
                </a:solidFill>
                <a:latin typeface="Syne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3191256"/>
            <a:ext cx="5120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yne"/>
              </a:rPr>
              <a:t>Tech Stack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3465576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CA3AF"/>
                </a:solidFill>
                <a:latin typeface="DM Sans"/>
              </a:rPr>
              <a:t>How the system is designed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4032503"/>
            <a:ext cx="475488" cy="411480"/>
          </a:xfrm>
          <a:prstGeom prst="rect">
            <a:avLst/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4041647"/>
            <a:ext cx="4754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472B6"/>
                </a:solidFill>
                <a:latin typeface="Syne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3986783"/>
            <a:ext cx="5120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yne"/>
              </a:rPr>
              <a:t>Key Features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4261103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CA3AF"/>
                </a:solidFill>
                <a:latin typeface="DM Sans"/>
              </a:rPr>
              <a:t>What the app does for users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4828032"/>
            <a:ext cx="475488" cy="411480"/>
          </a:xfrm>
          <a:prstGeom prst="rect">
            <a:avLst/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4837176"/>
            <a:ext cx="4754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2D3A8"/>
                </a:solidFill>
                <a:latin typeface="Syne"/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4782312"/>
            <a:ext cx="5120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yne"/>
              </a:rPr>
              <a:t>Implementation Steps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" y="5056632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CA3AF"/>
                </a:solidFill>
                <a:latin typeface="DM Sans"/>
              </a:rPr>
              <a:t>How we built it step by step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5623560"/>
            <a:ext cx="475488" cy="411480"/>
          </a:xfrm>
          <a:prstGeom prst="rect">
            <a:avLst/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5632704"/>
            <a:ext cx="4754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E8B84B"/>
                </a:solidFill>
                <a:latin typeface="Syne"/>
              </a:rPr>
              <a:t>06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" y="5577840"/>
            <a:ext cx="5120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yne"/>
              </a:rPr>
              <a:t>Database Design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" y="5852160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CA3AF"/>
                </a:solidFill>
                <a:latin typeface="DM Sans"/>
              </a:rPr>
              <a:t>MySQL schema and data model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09360" y="1645920"/>
            <a:ext cx="475488" cy="411480"/>
          </a:xfrm>
          <a:prstGeom prst="rect">
            <a:avLst/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09360" y="1655064"/>
            <a:ext cx="4754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818CF8"/>
                </a:solidFill>
                <a:latin typeface="Syne"/>
              </a:rPr>
              <a:t>07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0" y="1600200"/>
            <a:ext cx="5120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yne"/>
              </a:rPr>
              <a:t>UI/UX Design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0" y="1874520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CA3AF"/>
                </a:solidFill>
                <a:latin typeface="DM Sans"/>
              </a:rPr>
              <a:t>Design philosophy and screens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309360" y="2441448"/>
            <a:ext cx="475488" cy="411480"/>
          </a:xfrm>
          <a:prstGeom prst="rect">
            <a:avLst/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09360" y="2450592"/>
            <a:ext cx="4754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472B6"/>
                </a:solidFill>
                <a:latin typeface="Syne"/>
              </a:rPr>
              <a:t>08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000" y="2395728"/>
            <a:ext cx="5120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yne"/>
              </a:rPr>
              <a:t>AI Integration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58000" y="2670048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CA3AF"/>
                </a:solidFill>
                <a:latin typeface="DM Sans"/>
              </a:rPr>
              <a:t>Motivation engine and insights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309360" y="3236976"/>
            <a:ext cx="475488" cy="411480"/>
          </a:xfrm>
          <a:prstGeom prst="rect">
            <a:avLst/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309360" y="3246120"/>
            <a:ext cx="4754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2D3A8"/>
                </a:solidFill>
                <a:latin typeface="Syne"/>
              </a:rPr>
              <a:t>09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58000" y="3191256"/>
            <a:ext cx="5120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yne"/>
              </a:rPr>
              <a:t>Outcomes &amp; Results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58000" y="3465576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CA3AF"/>
                </a:solidFill>
                <a:latin typeface="DM Sans"/>
              </a:rPr>
              <a:t>What was achieved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309360" y="4032503"/>
            <a:ext cx="475488" cy="411480"/>
          </a:xfrm>
          <a:prstGeom prst="rect">
            <a:avLst/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309360" y="4041647"/>
            <a:ext cx="4754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E8B84B"/>
                </a:solidFill>
                <a:latin typeface="Syne"/>
              </a:rPr>
              <a:t>10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858000" y="3986783"/>
            <a:ext cx="5120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yne"/>
              </a:rPr>
              <a:t>Challenges &amp; Learnings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858000" y="4261103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CA3AF"/>
                </a:solidFill>
                <a:latin typeface="DM Sans"/>
              </a:rPr>
              <a:t>What we overcame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309360" y="4828032"/>
            <a:ext cx="475488" cy="411480"/>
          </a:xfrm>
          <a:prstGeom prst="rect">
            <a:avLst/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309360" y="4837176"/>
            <a:ext cx="4754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818CF8"/>
                </a:solidFill>
                <a:latin typeface="Syne"/>
              </a:rPr>
              <a:t>11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858000" y="4782312"/>
            <a:ext cx="5120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yne"/>
              </a:rPr>
              <a:t>Conclusion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858000" y="5056632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CA3AF"/>
                </a:solidFill>
                <a:latin typeface="DM Sans"/>
              </a:rPr>
              <a:t>Summary and future roadmap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4B5563"/>
                </a:solidFill>
                <a:latin typeface="Syne"/>
              </a:rPr>
              <a:t>02 /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0D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2D3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2D3A8"/>
                </a:solidFill>
                <a:latin typeface="Syne"/>
              </a:rPr>
              <a:t>01  PROBLEM STATEMENT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Syne"/>
              </a:rPr>
              <a:t>Why This App Exists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71600"/>
            <a:ext cx="11155680" cy="7315"/>
          </a:xfrm>
          <a:prstGeom prst="rect">
            <a:avLst/>
          </a:prstGeom>
          <a:solidFill>
            <a:srgbClr val="1E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508760"/>
            <a:ext cx="11064240" cy="1234440"/>
          </a:xfrm>
          <a:prstGeom prst="rect">
            <a:avLst/>
          </a:prstGeom>
          <a:solidFill>
            <a:srgbClr val="14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508760"/>
            <a:ext cx="64008" cy="1234440"/>
          </a:xfrm>
          <a:prstGeom prst="rect">
            <a:avLst/>
          </a:prstGeom>
          <a:solidFill>
            <a:srgbClr val="22D3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627632"/>
            <a:ext cx="106984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FFFFFF"/>
                </a:solidFill>
                <a:latin typeface="DM Sans"/>
              </a:rPr>
              <a:t>"Users struggle to maintain consistent daily habits like exercise, reading, and coding without a structured, motivating, and insightful tracking system."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926080"/>
            <a:ext cx="5394960" cy="1325880"/>
          </a:xfrm>
          <a:prstGeom prst="rect">
            <a:avLst/>
          </a:prstGeom>
          <a:solidFill>
            <a:srgbClr val="14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2926080"/>
            <a:ext cx="54864" cy="1325880"/>
          </a:xfrm>
          <a:prstGeom prst="rect">
            <a:avLst/>
          </a:prstGeom>
          <a:solidFill>
            <a:srgbClr val="22D3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30632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Syne"/>
              </a:rPr>
              <a:t>No Accountability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3401568"/>
            <a:ext cx="5029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CA3AF"/>
                </a:solidFill>
                <a:latin typeface="DM Sans"/>
              </a:rPr>
              <a:t>Without visual progress, users abandon habits within 2 weeks on average.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72200" y="2926080"/>
            <a:ext cx="5394960" cy="1325880"/>
          </a:xfrm>
          <a:prstGeom prst="rect">
            <a:avLst/>
          </a:prstGeom>
          <a:solidFill>
            <a:srgbClr val="14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72200" y="2926080"/>
            <a:ext cx="54864" cy="1325880"/>
          </a:xfrm>
          <a:prstGeom prst="rect">
            <a:avLst/>
          </a:prstGeom>
          <a:solidFill>
            <a:srgbClr val="22D3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73368" y="30632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Syne"/>
              </a:rPr>
              <a:t>No Streak Motivation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73368" y="3401568"/>
            <a:ext cx="5029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CA3AF"/>
                </a:solidFill>
                <a:latin typeface="DM Sans"/>
              </a:rPr>
              <a:t>People lack the gamification needed to maintain momentum day after day.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4434840"/>
            <a:ext cx="5394960" cy="1325880"/>
          </a:xfrm>
          <a:prstGeom prst="rect">
            <a:avLst/>
          </a:prstGeom>
          <a:solidFill>
            <a:srgbClr val="14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4434840"/>
            <a:ext cx="54864" cy="1325880"/>
          </a:xfrm>
          <a:prstGeom prst="rect">
            <a:avLst/>
          </a:prstGeom>
          <a:solidFill>
            <a:srgbClr val="22D3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9808" y="45720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Syne"/>
              </a:rPr>
              <a:t>No Pattern Insights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808" y="4910328"/>
            <a:ext cx="5029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CA3AF"/>
                </a:solidFill>
                <a:latin typeface="DM Sans"/>
              </a:rPr>
              <a:t>Users cannot identify which habits they complete best or worst and when.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72200" y="4434840"/>
            <a:ext cx="5394960" cy="1325880"/>
          </a:xfrm>
          <a:prstGeom prst="rect">
            <a:avLst/>
          </a:prstGeom>
          <a:solidFill>
            <a:srgbClr val="14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72200" y="4434840"/>
            <a:ext cx="54864" cy="1325880"/>
          </a:xfrm>
          <a:prstGeom prst="rect">
            <a:avLst/>
          </a:prstGeom>
          <a:solidFill>
            <a:srgbClr val="22D3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73368" y="45720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Syne"/>
              </a:rPr>
              <a:t>No Personalization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73368" y="4910328"/>
            <a:ext cx="5029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CA3AF"/>
                </a:solidFill>
                <a:latin typeface="DM Sans"/>
              </a:rPr>
              <a:t>Generic apps do not adapt feedback and quotes to the individual's journey.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4B5563"/>
                </a:solidFill>
                <a:latin typeface="Syne"/>
              </a:rPr>
              <a:t>03 /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0D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E8B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8B84B"/>
                </a:solidFill>
                <a:latin typeface="Syne"/>
              </a:rPr>
              <a:t>02  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Syne"/>
              </a:rPr>
              <a:t>What We Set Out to Achieve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71600"/>
            <a:ext cx="11155680" cy="7315"/>
          </a:xfrm>
          <a:prstGeom prst="rect">
            <a:avLst/>
          </a:prstGeom>
          <a:solidFill>
            <a:srgbClr val="1E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554480"/>
            <a:ext cx="3749039" cy="2148840"/>
          </a:xfrm>
          <a:prstGeom prst="rect">
            <a:avLst/>
          </a:prstGeom>
          <a:solidFill>
            <a:srgbClr val="14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554480"/>
            <a:ext cx="3749039" cy="50292"/>
          </a:xfrm>
          <a:prstGeom prst="rect">
            <a:avLst/>
          </a:prstGeom>
          <a:solidFill>
            <a:srgbClr val="22D3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67512" y="1719072"/>
            <a:ext cx="475488" cy="475488"/>
          </a:xfrm>
          <a:prstGeom prst="ellipse">
            <a:avLst/>
          </a:prstGeom>
          <a:solidFill>
            <a:srgbClr val="0D2E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" y="1719072"/>
            <a:ext cx="475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2D3A8"/>
                </a:solidFill>
                <a:latin typeface="Syne"/>
              </a:rPr>
              <a:t>HM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" y="2304288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yne"/>
              </a:rPr>
              <a:t>Habit Management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" y="2670048"/>
            <a:ext cx="3383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CA3AF"/>
                </a:solidFill>
                <a:latin typeface="DM Sans"/>
              </a:rPr>
              <a:t>Enable users to add, track, and delete daily habits with custom icons, colors, and goals starting from absolute zero.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16552" y="1554480"/>
            <a:ext cx="3749039" cy="2148840"/>
          </a:xfrm>
          <a:prstGeom prst="rect">
            <a:avLst/>
          </a:prstGeom>
          <a:solidFill>
            <a:srgbClr val="14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16552" y="1554480"/>
            <a:ext cx="3749039" cy="50292"/>
          </a:xfrm>
          <a:prstGeom prst="rect">
            <a:avLst/>
          </a:prstGeom>
          <a:solidFill>
            <a:srgbClr val="E8B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581144" y="1719072"/>
            <a:ext cx="475488" cy="475488"/>
          </a:xfrm>
          <a:prstGeom prst="ellipse">
            <a:avLst/>
          </a:prstGeom>
          <a:solidFill>
            <a:srgbClr val="2E24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81144" y="1719072"/>
            <a:ext cx="475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E8B84B"/>
                </a:solidFill>
                <a:latin typeface="Syne"/>
              </a:rPr>
              <a:t>STK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81144" y="2304288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yne"/>
              </a:rPr>
              <a:t>Streak &amp; Motivation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81144" y="2670048"/>
            <a:ext cx="3383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CA3AF"/>
                </a:solidFill>
                <a:latin typeface="DM Sans"/>
              </a:rPr>
              <a:t>Build a streak counter system that tracks consecutive completions and unlocks achievements to gamify consistency.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330184" y="1554480"/>
            <a:ext cx="3749039" cy="2148840"/>
          </a:xfrm>
          <a:prstGeom prst="rect">
            <a:avLst/>
          </a:prstGeom>
          <a:solidFill>
            <a:srgbClr val="14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330184" y="1554480"/>
            <a:ext cx="3749039" cy="50292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494776" y="1719072"/>
            <a:ext cx="475488" cy="475488"/>
          </a:xfrm>
          <a:prstGeom prst="ellipse">
            <a:avLst/>
          </a:prstGeom>
          <a:solidFill>
            <a:srgbClr val="1A1C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94776" y="1719072"/>
            <a:ext cx="475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818CF8"/>
                </a:solidFill>
                <a:latin typeface="Syne"/>
              </a:rPr>
              <a:t>VIZ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94776" y="2304288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yne"/>
              </a:rPr>
              <a:t>Visual Analytics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94776" y="2670048"/>
            <a:ext cx="3383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CA3AF"/>
                </a:solidFill>
                <a:latin typeface="DM Sans"/>
              </a:rPr>
              <a:t>Provide an interactive calendar, weekly charts, and per-habit completion bars so users visualise their own progress.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3886200"/>
            <a:ext cx="3749039" cy="2148840"/>
          </a:xfrm>
          <a:prstGeom prst="rect">
            <a:avLst/>
          </a:prstGeom>
          <a:solidFill>
            <a:srgbClr val="14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02920" y="3886200"/>
            <a:ext cx="3749039" cy="50292"/>
          </a:xfrm>
          <a:prstGeom prst="rect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67512" y="4050792"/>
            <a:ext cx="475488" cy="475488"/>
          </a:xfrm>
          <a:prstGeom prst="ellipse">
            <a:avLst/>
          </a:prstGeom>
          <a:solidFill>
            <a:srgbClr val="2E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7512" y="4050792"/>
            <a:ext cx="475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472B6"/>
                </a:solidFill>
                <a:latin typeface="Syne"/>
              </a:rPr>
              <a:t>AI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7512" y="4636008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yne"/>
              </a:rPr>
              <a:t>AI Personalization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7512" y="5001768"/>
            <a:ext cx="3383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CA3AF"/>
                </a:solidFill>
                <a:latin typeface="DM Sans"/>
              </a:rPr>
              <a:t>Integrate AI-generated motivational quotes and personalized insights adapted to the user's name and streak history.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416552" y="3886200"/>
            <a:ext cx="3749039" cy="2148840"/>
          </a:xfrm>
          <a:prstGeom prst="rect">
            <a:avLst/>
          </a:prstGeom>
          <a:solidFill>
            <a:srgbClr val="14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416552" y="3886200"/>
            <a:ext cx="3749039" cy="50292"/>
          </a:xfrm>
          <a:prstGeom prst="rect">
            <a:avLst/>
          </a:prstGeom>
          <a:solidFill>
            <a:srgbClr val="22D3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4581144" y="4050792"/>
            <a:ext cx="475488" cy="475488"/>
          </a:xfrm>
          <a:prstGeom prst="ellipse">
            <a:avLst/>
          </a:prstGeom>
          <a:solidFill>
            <a:srgbClr val="0D2E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81144" y="4050792"/>
            <a:ext cx="475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2D3A8"/>
                </a:solidFill>
                <a:latin typeface="Syne"/>
              </a:rPr>
              <a:t>AUTH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81144" y="4636008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yne"/>
              </a:rPr>
              <a:t>Secure Authentication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81144" y="5001768"/>
            <a:ext cx="3383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CA3AF"/>
                </a:solidFill>
                <a:latin typeface="DM Sans"/>
              </a:rPr>
              <a:t>Implement email/password signup and Google OAuth so every user has a private, isolated account from day one.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330184" y="3886200"/>
            <a:ext cx="3749039" cy="2148840"/>
          </a:xfrm>
          <a:prstGeom prst="rect">
            <a:avLst/>
          </a:prstGeom>
          <a:solidFill>
            <a:srgbClr val="14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330184" y="3886200"/>
            <a:ext cx="3749039" cy="50292"/>
          </a:xfrm>
          <a:prstGeom prst="rect">
            <a:avLst/>
          </a:prstGeom>
          <a:solidFill>
            <a:srgbClr val="E8B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8494776" y="4050792"/>
            <a:ext cx="475488" cy="475488"/>
          </a:xfrm>
          <a:prstGeom prst="ellipse">
            <a:avLst/>
          </a:prstGeom>
          <a:solidFill>
            <a:srgbClr val="2E24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494776" y="4050792"/>
            <a:ext cx="475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E8B84B"/>
                </a:solidFill>
                <a:latin typeface="Syne"/>
              </a:rPr>
              <a:t>DB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494776" y="4636008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yne"/>
              </a:rPr>
              <a:t>Database Persistence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494776" y="5001768"/>
            <a:ext cx="3383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CA3AF"/>
                </a:solidFill>
                <a:latin typeface="DM Sans"/>
              </a:rPr>
              <a:t>Design a MySQL schema with users, habits, and completions tables so all data persists and syncs across sessions.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4B5563"/>
                </a:solidFill>
                <a:latin typeface="Syne"/>
              </a:rPr>
              <a:t>04 /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0D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18CF8"/>
                </a:solidFill>
                <a:latin typeface="Syne"/>
              </a:rPr>
              <a:t>03  TECH STACK &amp;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Syne"/>
              </a:rPr>
              <a:t>How the System is Designed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71600"/>
            <a:ext cx="11155680" cy="7315"/>
          </a:xfrm>
          <a:prstGeom prst="rect">
            <a:avLst/>
          </a:prstGeom>
          <a:solidFill>
            <a:srgbClr val="1E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508760"/>
            <a:ext cx="6126480" cy="1143000"/>
          </a:xfrm>
          <a:prstGeom prst="rect">
            <a:avLst/>
          </a:prstGeom>
          <a:solidFill>
            <a:srgbClr val="14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508760"/>
            <a:ext cx="64008" cy="1143000"/>
          </a:xfrm>
          <a:prstGeom prst="rect">
            <a:avLst/>
          </a:prstGeom>
          <a:solidFill>
            <a:srgbClr val="22D3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673352"/>
            <a:ext cx="5669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2D3A8"/>
                </a:solidFill>
                <a:latin typeface="Syne"/>
              </a:rPr>
              <a:t>FRONTEND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039112"/>
            <a:ext cx="5669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CA3AF"/>
                </a:solidFill>
                <a:latin typeface="DM Sans"/>
              </a:rPr>
              <a:t>React 18  ·  React Router  ·  Context API  ·  CSS Variables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2834640"/>
            <a:ext cx="6126480" cy="1143000"/>
          </a:xfrm>
          <a:prstGeom prst="rect">
            <a:avLst/>
          </a:prstGeom>
          <a:solidFill>
            <a:srgbClr val="14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2834640"/>
            <a:ext cx="64008" cy="1143000"/>
          </a:xfrm>
          <a:prstGeom prst="rect">
            <a:avLst/>
          </a:prstGeom>
          <a:solidFill>
            <a:srgbClr val="E8B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999232"/>
            <a:ext cx="5669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8B84B"/>
                </a:solidFill>
                <a:latin typeface="Syne"/>
              </a:rPr>
              <a:t>BACKEND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364992"/>
            <a:ext cx="5669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CA3AF"/>
                </a:solidFill>
                <a:latin typeface="DM Sans"/>
              </a:rPr>
              <a:t>Java 17  ·  Spring Boot  ·  Spring Security  ·  JWT Auth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4160520"/>
            <a:ext cx="6126480" cy="1143000"/>
          </a:xfrm>
          <a:prstGeom prst="rect">
            <a:avLst/>
          </a:prstGeom>
          <a:solidFill>
            <a:srgbClr val="14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2920" y="4160520"/>
            <a:ext cx="64008" cy="1143000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325112"/>
            <a:ext cx="5669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818CF8"/>
                </a:solidFill>
                <a:latin typeface="Syne"/>
              </a:rPr>
              <a:t>DATABASE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690872"/>
            <a:ext cx="5669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CA3AF"/>
                </a:solidFill>
                <a:latin typeface="DM Sans"/>
              </a:rPr>
              <a:t>MySQL 8  ·  3 Tables: users  ·  habits  ·  completions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5486400"/>
            <a:ext cx="6126480" cy="1143000"/>
          </a:xfrm>
          <a:prstGeom prst="rect">
            <a:avLst/>
          </a:prstGeom>
          <a:solidFill>
            <a:srgbClr val="14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2920" y="5486400"/>
            <a:ext cx="64008" cy="1143000"/>
          </a:xfrm>
          <a:prstGeom prst="rect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5650992"/>
            <a:ext cx="5669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472B6"/>
                </a:solidFill>
                <a:latin typeface="Syne"/>
              </a:rPr>
              <a:t>AUTH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6016752"/>
            <a:ext cx="5669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CA3AF"/>
                </a:solidFill>
                <a:latin typeface="DM Sans"/>
              </a:rPr>
              <a:t>Email / Password  ·  Google OAuth 2.0  ·  JWT Tokens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903720" y="1508760"/>
            <a:ext cx="4983480" cy="5120640"/>
          </a:xfrm>
          <a:prstGeom prst="rect">
            <a:avLst/>
          </a:prstGeom>
          <a:solidFill>
            <a:srgbClr val="14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086600" y="16916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B5563"/>
                </a:solidFill>
                <a:latin typeface="Syne"/>
              </a:rPr>
              <a:t>DATA FLOW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086600" y="2148840"/>
            <a:ext cx="4480560" cy="594360"/>
          </a:xfrm>
          <a:prstGeom prst="rect">
            <a:avLst/>
          </a:prstGeom>
          <a:solidFill>
            <a:srgbClr val="0D0F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086600" y="2148840"/>
            <a:ext cx="50292" cy="594360"/>
          </a:xfrm>
          <a:prstGeom prst="rect">
            <a:avLst/>
          </a:prstGeom>
          <a:solidFill>
            <a:srgbClr val="22D3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269480" y="2212848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Syne"/>
              </a:rPr>
              <a:t>User Action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69480" y="2478024"/>
            <a:ext cx="4114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CA3AF"/>
                </a:solidFill>
                <a:latin typeface="DM Sans"/>
              </a:rPr>
              <a:t>Click / Form Submit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81160" y="2715768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B5563"/>
                </a:solidFill>
                <a:latin typeface="Syne"/>
              </a:rPr>
              <a:t>v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086600" y="2953512"/>
            <a:ext cx="4480560" cy="594360"/>
          </a:xfrm>
          <a:prstGeom prst="rect">
            <a:avLst/>
          </a:prstGeom>
          <a:solidFill>
            <a:srgbClr val="0D0F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086600" y="2953512"/>
            <a:ext cx="50292" cy="594360"/>
          </a:xfrm>
          <a:prstGeom prst="rect">
            <a:avLst/>
          </a:prstGeom>
          <a:solidFill>
            <a:srgbClr val="22D3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269480" y="301752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Syne"/>
              </a:rPr>
              <a:t>React State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269480" y="3282696"/>
            <a:ext cx="4114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CA3AF"/>
                </a:solidFill>
                <a:latin typeface="DM Sans"/>
              </a:rPr>
              <a:t>useState / Context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281160" y="3520440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B5563"/>
                </a:solidFill>
                <a:latin typeface="Syne"/>
              </a:rPr>
              <a:t>v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086600" y="3758184"/>
            <a:ext cx="4480560" cy="594360"/>
          </a:xfrm>
          <a:prstGeom prst="rect">
            <a:avLst/>
          </a:prstGeom>
          <a:solidFill>
            <a:srgbClr val="0D0F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086600" y="3758184"/>
            <a:ext cx="50292" cy="594360"/>
          </a:xfrm>
          <a:prstGeom prst="rect">
            <a:avLst/>
          </a:prstGeom>
          <a:solidFill>
            <a:srgbClr val="E8B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269480" y="3822192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Syne"/>
              </a:rPr>
              <a:t>localStorage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269480" y="4087368"/>
            <a:ext cx="4114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CA3AF"/>
                </a:solidFill>
                <a:latin typeface="DM Sans"/>
              </a:rPr>
              <a:t>Per-user JSON storage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281160" y="4325112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B5563"/>
                </a:solidFill>
                <a:latin typeface="Syne"/>
              </a:rPr>
              <a:t>v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086600" y="4562856"/>
            <a:ext cx="4480560" cy="594360"/>
          </a:xfrm>
          <a:prstGeom prst="rect">
            <a:avLst/>
          </a:prstGeom>
          <a:solidFill>
            <a:srgbClr val="0D0F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086600" y="4562856"/>
            <a:ext cx="50292" cy="594360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269480" y="4626864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Syne"/>
              </a:rPr>
              <a:t>API Call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269480" y="4892040"/>
            <a:ext cx="4114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CA3AF"/>
                </a:solidFill>
                <a:latin typeface="DM Sans"/>
              </a:rPr>
              <a:t>fetch() -&gt; Spring Boot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281160" y="5129784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B5563"/>
                </a:solidFill>
                <a:latin typeface="Syne"/>
              </a:rPr>
              <a:t>v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086600" y="5367528"/>
            <a:ext cx="4480560" cy="594360"/>
          </a:xfrm>
          <a:prstGeom prst="rect">
            <a:avLst/>
          </a:prstGeom>
          <a:solidFill>
            <a:srgbClr val="0D0F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086600" y="5367528"/>
            <a:ext cx="50292" cy="594360"/>
          </a:xfrm>
          <a:prstGeom prst="rect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269480" y="5431536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Syne"/>
              </a:rPr>
              <a:t>MySQL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269480" y="5696712"/>
            <a:ext cx="4114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CA3AF"/>
                </a:solidFill>
                <a:latin typeface="DM Sans"/>
              </a:rPr>
              <a:t>INSERT / SELECT / UPDATE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4B5563"/>
                </a:solidFill>
                <a:latin typeface="Syne"/>
              </a:rPr>
              <a:t>05 /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0D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472B6"/>
                </a:solidFill>
                <a:latin typeface="Syne"/>
              </a:rPr>
              <a:t>04  KEY FEATURES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Syne"/>
              </a:rPr>
              <a:t>What the App Does for Users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71600"/>
            <a:ext cx="11155680" cy="7315"/>
          </a:xfrm>
          <a:prstGeom prst="rect">
            <a:avLst/>
          </a:prstGeom>
          <a:solidFill>
            <a:srgbClr val="1E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600200"/>
            <a:ext cx="2788920" cy="2176272"/>
          </a:xfrm>
          <a:prstGeom prst="rect">
            <a:avLst/>
          </a:prstGeom>
          <a:solidFill>
            <a:srgbClr val="14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600200"/>
            <a:ext cx="2788920" cy="45720"/>
          </a:xfrm>
          <a:prstGeom prst="rect">
            <a:avLst/>
          </a:prstGeom>
          <a:solidFill>
            <a:srgbClr val="22D3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21792" y="1764792"/>
            <a:ext cx="402336" cy="402336"/>
          </a:xfrm>
          <a:prstGeom prst="ellipse">
            <a:avLst/>
          </a:prstGeom>
          <a:solidFill>
            <a:srgbClr val="0D2E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" y="1764792"/>
            <a:ext cx="4023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2D3A8"/>
                </a:solidFill>
                <a:latin typeface="Syne"/>
              </a:rPr>
              <a:t>0-&gt;1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2258568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yne"/>
              </a:rPr>
              <a:t>Fresh Start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2606040"/>
            <a:ext cx="24688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CA3AF"/>
                </a:solidFill>
                <a:latin typeface="DM Sans"/>
              </a:rPr>
              <a:t>Every new user begins with zero habits, zero streaks, and all achievements locked. No fake demo data.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01568" y="1600200"/>
            <a:ext cx="2788920" cy="2176272"/>
          </a:xfrm>
          <a:prstGeom prst="rect">
            <a:avLst/>
          </a:prstGeom>
          <a:solidFill>
            <a:srgbClr val="14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01568" y="1600200"/>
            <a:ext cx="2788920" cy="45720"/>
          </a:xfrm>
          <a:prstGeom prst="rect">
            <a:avLst/>
          </a:prstGeom>
          <a:solidFill>
            <a:srgbClr val="E8B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66160" y="1764792"/>
            <a:ext cx="402336" cy="402336"/>
          </a:xfrm>
          <a:prstGeom prst="ellipse">
            <a:avLst/>
          </a:prstGeom>
          <a:solidFill>
            <a:srgbClr val="2E24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6160" y="1764792"/>
            <a:ext cx="4023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E8B84B"/>
                </a:solidFill>
                <a:latin typeface="Syne"/>
              </a:rPr>
              <a:t>FIRE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6160" y="2258568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yne"/>
              </a:rPr>
              <a:t>Streak Counter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0" y="2606040"/>
            <a:ext cx="24688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CA3AF"/>
                </a:solidFill>
                <a:latin typeface="DM Sans"/>
              </a:rPr>
              <a:t>Real-time streak increments on each daily toggle with animated SVG ring and fire emoji counter.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45936" y="1600200"/>
            <a:ext cx="2788920" cy="2176272"/>
          </a:xfrm>
          <a:prstGeom prst="rect">
            <a:avLst/>
          </a:prstGeom>
          <a:solidFill>
            <a:srgbClr val="14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45936" y="1600200"/>
            <a:ext cx="2788920" cy="45720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510528" y="1764792"/>
            <a:ext cx="402336" cy="402336"/>
          </a:xfrm>
          <a:prstGeom prst="ellipse">
            <a:avLst/>
          </a:prstGeom>
          <a:solidFill>
            <a:srgbClr val="1A1C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10528" y="1764792"/>
            <a:ext cx="4023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818CF8"/>
                </a:solidFill>
                <a:latin typeface="Syne"/>
              </a:rPr>
              <a:t>CAL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10528" y="2258568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yne"/>
              </a:rPr>
              <a:t>Calendar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10528" y="2606040"/>
            <a:ext cx="24688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CA3AF"/>
                </a:solidFill>
                <a:latin typeface="DM Sans"/>
              </a:rPr>
              <a:t>Click any past day to see exactly which habits were completed. Color-coded from empty to perfect day.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290304" y="1600200"/>
            <a:ext cx="2788920" cy="2176272"/>
          </a:xfrm>
          <a:prstGeom prst="rect">
            <a:avLst/>
          </a:prstGeom>
          <a:solidFill>
            <a:srgbClr val="14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290304" y="1600200"/>
            <a:ext cx="2788920" cy="45720"/>
          </a:xfrm>
          <a:prstGeom prst="rect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454896" y="1764792"/>
            <a:ext cx="402336" cy="402336"/>
          </a:xfrm>
          <a:prstGeom prst="ellipse">
            <a:avLst/>
          </a:prstGeom>
          <a:solidFill>
            <a:srgbClr val="2E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54896" y="1764792"/>
            <a:ext cx="4023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472B6"/>
                </a:solidFill>
                <a:latin typeface="Syne"/>
              </a:rPr>
              <a:t>ACH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54896" y="2258568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yne"/>
              </a:rPr>
              <a:t>Achievements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54896" y="2606040"/>
            <a:ext cx="24688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CA3AF"/>
                </a:solidFill>
                <a:latin typeface="DM Sans"/>
              </a:rPr>
              <a:t>10 unlockable badges from First Step to Legend (50-day streak). All start locked, earned by real actions.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3931920"/>
            <a:ext cx="2788920" cy="2176272"/>
          </a:xfrm>
          <a:prstGeom prst="rect">
            <a:avLst/>
          </a:prstGeom>
          <a:solidFill>
            <a:srgbClr val="14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57200" y="3931920"/>
            <a:ext cx="2788920" cy="45720"/>
          </a:xfrm>
          <a:prstGeom prst="rect">
            <a:avLst/>
          </a:prstGeom>
          <a:solidFill>
            <a:srgbClr val="22D3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21792" y="4096512"/>
            <a:ext cx="402336" cy="402336"/>
          </a:xfrm>
          <a:prstGeom prst="ellipse">
            <a:avLst/>
          </a:prstGeom>
          <a:solidFill>
            <a:srgbClr val="0D2E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1792" y="4096512"/>
            <a:ext cx="4023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2D3A8"/>
                </a:solidFill>
                <a:latin typeface="Syne"/>
              </a:rPr>
              <a:t>BOT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1792" y="4590288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yne"/>
              </a:rPr>
              <a:t>AI Coach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1792" y="4937760"/>
            <a:ext cx="24688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CA3AF"/>
                </a:solidFill>
                <a:latin typeface="DM Sans"/>
              </a:rPr>
              <a:t>Personalized motivational quotes using the user's real name and live streak data. Refreshable on demand.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401568" y="3931920"/>
            <a:ext cx="2788920" cy="2176272"/>
          </a:xfrm>
          <a:prstGeom prst="rect">
            <a:avLst/>
          </a:prstGeom>
          <a:solidFill>
            <a:srgbClr val="14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401568" y="3931920"/>
            <a:ext cx="2788920" cy="45720"/>
          </a:xfrm>
          <a:prstGeom prst="rect">
            <a:avLst/>
          </a:prstGeom>
          <a:solidFill>
            <a:srgbClr val="E8B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3566160" y="4096512"/>
            <a:ext cx="402336" cy="402336"/>
          </a:xfrm>
          <a:prstGeom prst="ellipse">
            <a:avLst/>
          </a:prstGeom>
          <a:solidFill>
            <a:srgbClr val="2E24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566160" y="4096512"/>
            <a:ext cx="4023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E8B84B"/>
                </a:solidFill>
                <a:latin typeface="Syne"/>
              </a:rPr>
              <a:t>MOB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566160" y="4590288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yne"/>
              </a:rPr>
              <a:t>Responsive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66160" y="4937760"/>
            <a:ext cx="24688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CA3AF"/>
                </a:solidFill>
                <a:latin typeface="DM Sans"/>
              </a:rPr>
              <a:t>Desktop sidebar, tablet icon-only sidebar, mobile bottom nav — three layouts from one codebase.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345936" y="3931920"/>
            <a:ext cx="2788920" cy="2176272"/>
          </a:xfrm>
          <a:prstGeom prst="rect">
            <a:avLst/>
          </a:prstGeom>
          <a:solidFill>
            <a:srgbClr val="14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345936" y="3931920"/>
            <a:ext cx="2788920" cy="45720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6510528" y="4096512"/>
            <a:ext cx="402336" cy="402336"/>
          </a:xfrm>
          <a:prstGeom prst="ellipse">
            <a:avLst/>
          </a:prstGeom>
          <a:solidFill>
            <a:srgbClr val="1A1C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510528" y="4096512"/>
            <a:ext cx="4023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818CF8"/>
                </a:solidFill>
                <a:latin typeface="Syne"/>
              </a:rPr>
              <a:t>KEY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510528" y="4590288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yne"/>
              </a:rPr>
              <a:t>Dual Auth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510528" y="4937760"/>
            <a:ext cx="24688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CA3AF"/>
                </a:solidFill>
                <a:latin typeface="DM Sans"/>
              </a:rPr>
              <a:t>Email/password with validation and Google OAuth 2.0. Each user's habits are isolated by email address.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290304" y="3931920"/>
            <a:ext cx="2788920" cy="2176272"/>
          </a:xfrm>
          <a:prstGeom prst="rect">
            <a:avLst/>
          </a:prstGeom>
          <a:solidFill>
            <a:srgbClr val="14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9290304" y="3931920"/>
            <a:ext cx="2788920" cy="45720"/>
          </a:xfrm>
          <a:prstGeom prst="rect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9454896" y="4096512"/>
            <a:ext cx="402336" cy="402336"/>
          </a:xfrm>
          <a:prstGeom prst="ellipse">
            <a:avLst/>
          </a:prstGeom>
          <a:solidFill>
            <a:srgbClr val="2E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454896" y="4096512"/>
            <a:ext cx="4023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472B6"/>
                </a:solidFill>
                <a:latin typeface="Syne"/>
              </a:rPr>
              <a:t>DB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454896" y="4590288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yne"/>
              </a:rPr>
              <a:t>Persistence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454896" y="4937760"/>
            <a:ext cx="24688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CA3AF"/>
                </a:solidFill>
                <a:latin typeface="DM Sans"/>
              </a:rPr>
              <a:t>localStorage keyed by user email for frontend. MySQL backend ready with JWT-protected REST API.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4B5563"/>
                </a:solidFill>
                <a:latin typeface="Syne"/>
              </a:rPr>
              <a:t>06 /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0D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2D3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2D3A8"/>
                </a:solidFill>
                <a:latin typeface="Syne"/>
              </a:rPr>
              <a:t>05  IMPLEMENTATION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Syne"/>
              </a:rPr>
              <a:t>How We Built It — Step by Step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71600"/>
            <a:ext cx="11155680" cy="7315"/>
          </a:xfrm>
          <a:prstGeom prst="rect">
            <a:avLst/>
          </a:prstGeom>
          <a:solidFill>
            <a:srgbClr val="1E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554480"/>
            <a:ext cx="5669280" cy="1097280"/>
          </a:xfrm>
          <a:prstGeom prst="rect">
            <a:avLst/>
          </a:prstGeom>
          <a:solidFill>
            <a:srgbClr val="14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554480"/>
            <a:ext cx="50292" cy="1097280"/>
          </a:xfrm>
          <a:prstGeom prst="rect">
            <a:avLst/>
          </a:prstGeom>
          <a:solidFill>
            <a:srgbClr val="22D3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4360" y="1874520"/>
            <a:ext cx="457200" cy="384048"/>
          </a:xfrm>
          <a:prstGeom prst="rect">
            <a:avLst/>
          </a:prstGeom>
          <a:solidFill>
            <a:srgbClr val="0D0F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883664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2D3A8"/>
                </a:solidFill>
                <a:latin typeface="Syne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70432" y="1645920"/>
            <a:ext cx="4800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yne"/>
              </a:rPr>
              <a:t>Project Setup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70432" y="2011680"/>
            <a:ext cx="4800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CA3AF"/>
                </a:solidFill>
                <a:latin typeface="DM Sans"/>
              </a:rPr>
              <a:t>Created React app with react-router-dom, @react-oauth/google. Defined CSS variables for the dark gold palette.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5080" y="1554480"/>
            <a:ext cx="5669280" cy="1097280"/>
          </a:xfrm>
          <a:prstGeom prst="rect">
            <a:avLst/>
          </a:prstGeom>
          <a:solidFill>
            <a:srgbClr val="14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55080" y="1554480"/>
            <a:ext cx="50292" cy="1097280"/>
          </a:xfrm>
          <a:prstGeom prst="rect">
            <a:avLst/>
          </a:prstGeom>
          <a:solidFill>
            <a:srgbClr val="E8B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92240" y="1874520"/>
            <a:ext cx="457200" cy="384048"/>
          </a:xfrm>
          <a:prstGeom prst="rect">
            <a:avLst/>
          </a:prstGeom>
          <a:solidFill>
            <a:srgbClr val="0D0F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1883664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E8B84B"/>
                </a:solidFill>
                <a:latin typeface="Syne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68312" y="1645920"/>
            <a:ext cx="4800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yne"/>
              </a:rPr>
              <a:t>Auth System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68312" y="2011680"/>
            <a:ext cx="4800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CA3AF"/>
                </a:solidFill>
                <a:latin typeface="DM Sans"/>
              </a:rPr>
              <a:t>Built AuthContext with email signup/signin and Google OAuth. Sessions persisted in localStorage per user email.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2816352"/>
            <a:ext cx="5669280" cy="1097280"/>
          </a:xfrm>
          <a:prstGeom prst="rect">
            <a:avLst/>
          </a:prstGeom>
          <a:solidFill>
            <a:srgbClr val="14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" y="2816352"/>
            <a:ext cx="50292" cy="1097280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94360" y="3136392"/>
            <a:ext cx="457200" cy="384048"/>
          </a:xfrm>
          <a:prstGeom prst="rect">
            <a:avLst/>
          </a:prstGeom>
          <a:solidFill>
            <a:srgbClr val="0D0F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3145536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818CF8"/>
                </a:solidFill>
                <a:latin typeface="Syne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70432" y="2907792"/>
            <a:ext cx="4800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yne"/>
              </a:rPr>
              <a:t>Habit Context &amp; Storage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70432" y="3273552"/>
            <a:ext cx="4800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CA3AF"/>
                </a:solidFill>
                <a:latin typeface="DM Sans"/>
              </a:rPr>
              <a:t>HabitContext with addHabit (streak=0), toggleHabit, deleteHabit. CompletionMap stores done IDs per date key.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55080" y="2816352"/>
            <a:ext cx="5669280" cy="1097280"/>
          </a:xfrm>
          <a:prstGeom prst="rect">
            <a:avLst/>
          </a:prstGeom>
          <a:solidFill>
            <a:srgbClr val="14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355080" y="2816352"/>
            <a:ext cx="50292" cy="1097280"/>
          </a:xfrm>
          <a:prstGeom prst="rect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492240" y="3136392"/>
            <a:ext cx="457200" cy="384048"/>
          </a:xfrm>
          <a:prstGeom prst="rect">
            <a:avLst/>
          </a:prstGeom>
          <a:solidFill>
            <a:srgbClr val="0D0F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92240" y="3145536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472B6"/>
                </a:solidFill>
                <a:latin typeface="Syne"/>
              </a:rPr>
              <a:t>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68312" y="2907792"/>
            <a:ext cx="4800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yne"/>
              </a:rPr>
              <a:t>Dashboard &amp; UI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68312" y="3273552"/>
            <a:ext cx="4800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CA3AF"/>
                </a:solidFill>
                <a:latin typeface="DM Sans"/>
              </a:rPr>
              <a:t>DashboardPage with streak ring SVG, today progress arc, AI quotes, confetti on completion, habit row list.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4078224"/>
            <a:ext cx="5669280" cy="1097280"/>
          </a:xfrm>
          <a:prstGeom prst="rect">
            <a:avLst/>
          </a:prstGeom>
          <a:solidFill>
            <a:srgbClr val="14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57200" y="4078224"/>
            <a:ext cx="50292" cy="1097280"/>
          </a:xfrm>
          <a:prstGeom prst="rect">
            <a:avLst/>
          </a:prstGeom>
          <a:solidFill>
            <a:srgbClr val="22D3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94360" y="4398264"/>
            <a:ext cx="457200" cy="384048"/>
          </a:xfrm>
          <a:prstGeom prst="rect">
            <a:avLst/>
          </a:prstGeom>
          <a:solidFill>
            <a:srgbClr val="0D0F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94360" y="4407408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2D3A8"/>
                </a:solidFill>
                <a:latin typeface="Syne"/>
              </a:rPr>
              <a:t>05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70432" y="4169664"/>
            <a:ext cx="4800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yne"/>
              </a:rPr>
              <a:t>Statistics &amp; Calendar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70432" y="4535424"/>
            <a:ext cx="4800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CA3AF"/>
                </a:solidFill>
                <a:latin typeface="DM Sans"/>
              </a:rPr>
              <a:t>Interactive month calendar with click-to-expand day detail. Weekly table built from real completionMap data.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355080" y="4078224"/>
            <a:ext cx="5669280" cy="1097280"/>
          </a:xfrm>
          <a:prstGeom prst="rect">
            <a:avLst/>
          </a:prstGeom>
          <a:solidFill>
            <a:srgbClr val="14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355080" y="4078224"/>
            <a:ext cx="50292" cy="1097280"/>
          </a:xfrm>
          <a:prstGeom prst="rect">
            <a:avLst/>
          </a:prstGeom>
          <a:solidFill>
            <a:srgbClr val="E8B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492240" y="4398264"/>
            <a:ext cx="457200" cy="384048"/>
          </a:xfrm>
          <a:prstGeom prst="rect">
            <a:avLst/>
          </a:prstGeom>
          <a:solidFill>
            <a:srgbClr val="0D0F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92240" y="4407408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E8B84B"/>
                </a:solidFill>
                <a:latin typeface="Syne"/>
              </a:rPr>
              <a:t>06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068312" y="4169664"/>
            <a:ext cx="4800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yne"/>
              </a:rPr>
              <a:t>Insights &amp; Achievements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068312" y="4535424"/>
            <a:ext cx="4800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CA3AF"/>
                </a:solidFill>
                <a:latin typeface="DM Sans"/>
              </a:rPr>
              <a:t>10 achievement definitions unlocked by computeUnlocked(). AI insights panel with habit-specific analysis.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57200" y="5340096"/>
            <a:ext cx="5669280" cy="1097280"/>
          </a:xfrm>
          <a:prstGeom prst="rect">
            <a:avLst/>
          </a:prstGeom>
          <a:solidFill>
            <a:srgbClr val="14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57200" y="5340096"/>
            <a:ext cx="50292" cy="1097280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94360" y="5660136"/>
            <a:ext cx="457200" cy="384048"/>
          </a:xfrm>
          <a:prstGeom prst="rect">
            <a:avLst/>
          </a:prstGeom>
          <a:solidFill>
            <a:srgbClr val="0D0F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94360" y="566928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818CF8"/>
                </a:solidFill>
                <a:latin typeface="Syne"/>
              </a:rPr>
              <a:t>07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70432" y="5431536"/>
            <a:ext cx="4800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yne"/>
              </a:rPr>
              <a:t>MySQL Schema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70432" y="5797296"/>
            <a:ext cx="4800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CA3AF"/>
                </a:solidFill>
                <a:latin typeface="DM Sans"/>
              </a:rPr>
              <a:t>3-table schema: users, habits, completions. Foreign keys, indexes, soft delete on habits. Ran in MySQL Workbench.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355080" y="5340096"/>
            <a:ext cx="5669280" cy="1097280"/>
          </a:xfrm>
          <a:prstGeom prst="rect">
            <a:avLst/>
          </a:prstGeom>
          <a:solidFill>
            <a:srgbClr val="14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355080" y="5340096"/>
            <a:ext cx="50292" cy="1097280"/>
          </a:xfrm>
          <a:prstGeom prst="rect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492240" y="5660136"/>
            <a:ext cx="457200" cy="384048"/>
          </a:xfrm>
          <a:prstGeom prst="rect">
            <a:avLst/>
          </a:prstGeom>
          <a:solidFill>
            <a:srgbClr val="0D0F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492240" y="566928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472B6"/>
                </a:solidFill>
                <a:latin typeface="Syne"/>
              </a:rPr>
              <a:t>08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068312" y="5431536"/>
            <a:ext cx="4800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yne"/>
              </a:rPr>
              <a:t>Java Backend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068312" y="5797296"/>
            <a:ext cx="4800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CA3AF"/>
                </a:solidFill>
                <a:latin typeface="DM Sans"/>
              </a:rPr>
              <a:t>Spring Boot REST API with JwtUtil, AuthController, HabitController. All endpoints secured with Bearer token.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4B5563"/>
                </a:solidFill>
                <a:latin typeface="Syne"/>
              </a:rPr>
              <a:t>07 /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0D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E8B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8B84B"/>
                </a:solidFill>
                <a:latin typeface="Syne"/>
              </a:rPr>
              <a:t>06  DATABASE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Syne"/>
              </a:rPr>
              <a:t>MySQL Schema &amp; Data Model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71600"/>
            <a:ext cx="11155680" cy="7315"/>
          </a:xfrm>
          <a:prstGeom prst="rect">
            <a:avLst/>
          </a:prstGeom>
          <a:solidFill>
            <a:srgbClr val="1E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508760"/>
            <a:ext cx="3749039" cy="5074920"/>
          </a:xfrm>
          <a:prstGeom prst="rect">
            <a:avLst/>
          </a:prstGeom>
          <a:solidFill>
            <a:srgbClr val="14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508760"/>
            <a:ext cx="3749039" cy="475488"/>
          </a:xfrm>
          <a:prstGeom prst="rect">
            <a:avLst/>
          </a:prstGeom>
          <a:solidFill>
            <a:srgbClr val="22D3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60020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B0D14"/>
                </a:solidFill>
                <a:latin typeface="Syne"/>
              </a:rPr>
              <a:t>users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21031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2D3A8"/>
                </a:solidFill>
                <a:latin typeface="Syne"/>
              </a:rPr>
              <a:t>id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2377440"/>
            <a:ext cx="3383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CA3AF"/>
                </a:solidFill>
                <a:latin typeface="DM Sans"/>
              </a:rPr>
              <a:t>BIGINT PK AUTO_INCREMENT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761488"/>
            <a:ext cx="3566160" cy="7315"/>
          </a:xfrm>
          <a:prstGeom prst="rect">
            <a:avLst/>
          </a:prstGeom>
          <a:solidFill>
            <a:srgbClr val="1E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" y="280720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2D3A8"/>
                </a:solidFill>
                <a:latin typeface="Syne"/>
              </a:rPr>
              <a:t>name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" y="3081528"/>
            <a:ext cx="3383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CA3AF"/>
                </a:solidFill>
                <a:latin typeface="DM Sans"/>
              </a:rPr>
              <a:t>VARCHAR(120) NOT NULL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465576"/>
            <a:ext cx="3566160" cy="7315"/>
          </a:xfrm>
          <a:prstGeom prst="rect">
            <a:avLst/>
          </a:prstGeom>
          <a:solidFill>
            <a:srgbClr val="1E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" y="3511296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2D3A8"/>
                </a:solidFill>
                <a:latin typeface="Syne"/>
              </a:rPr>
              <a:t>email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" y="3785616"/>
            <a:ext cx="3383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CA3AF"/>
                </a:solidFill>
                <a:latin typeface="DM Sans"/>
              </a:rPr>
              <a:t>VARCHAR(255) UNIQUE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4169664"/>
            <a:ext cx="3566160" cy="7315"/>
          </a:xfrm>
          <a:prstGeom prst="rect">
            <a:avLst/>
          </a:prstGeom>
          <a:solidFill>
            <a:srgbClr val="1E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1792" y="4215384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2D3A8"/>
                </a:solidFill>
                <a:latin typeface="Syne"/>
              </a:rPr>
              <a:t>password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" y="4489704"/>
            <a:ext cx="3383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CA3AF"/>
                </a:solidFill>
                <a:latin typeface="DM Sans"/>
              </a:rPr>
              <a:t>VARCHAR(255) nullable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4873752"/>
            <a:ext cx="3566160" cy="7315"/>
          </a:xfrm>
          <a:prstGeom prst="rect">
            <a:avLst/>
          </a:prstGeom>
          <a:solidFill>
            <a:srgbClr val="1E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1792" y="491947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2D3A8"/>
                </a:solidFill>
                <a:latin typeface="Syne"/>
              </a:rPr>
              <a:t>provider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" y="5193792"/>
            <a:ext cx="3383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CA3AF"/>
                </a:solidFill>
                <a:latin typeface="DM Sans"/>
              </a:rPr>
              <a:t>ENUM email | google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5577840"/>
            <a:ext cx="3566160" cy="7315"/>
          </a:xfrm>
          <a:prstGeom prst="rect">
            <a:avLst/>
          </a:prstGeom>
          <a:solidFill>
            <a:srgbClr val="1E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1792" y="56235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2D3A8"/>
                </a:solidFill>
                <a:latin typeface="Syne"/>
              </a:rPr>
              <a:t>created_at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792" y="5897880"/>
            <a:ext cx="3383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CA3AF"/>
                </a:solidFill>
                <a:latin typeface="DM Sans"/>
              </a:rPr>
              <a:t>TIMESTAMP DEFAULT NOW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389120" y="1508760"/>
            <a:ext cx="3749039" cy="5074920"/>
          </a:xfrm>
          <a:prstGeom prst="rect">
            <a:avLst/>
          </a:prstGeom>
          <a:solidFill>
            <a:srgbClr val="14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389120" y="1508760"/>
            <a:ext cx="3749039" cy="475488"/>
          </a:xfrm>
          <a:prstGeom prst="rect">
            <a:avLst/>
          </a:prstGeom>
          <a:solidFill>
            <a:srgbClr val="E8B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26280" y="160020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B0D14"/>
                </a:solidFill>
                <a:latin typeface="Syne"/>
              </a:rPr>
              <a:t>habits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53712" y="21031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8B84B"/>
                </a:solidFill>
                <a:latin typeface="Syne"/>
              </a:rPr>
              <a:t>id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53712" y="2377440"/>
            <a:ext cx="3383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CA3AF"/>
                </a:solidFill>
                <a:latin typeface="DM Sans"/>
              </a:rPr>
              <a:t>BIGINT PK AUTO_INCREMENT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480560" y="2761488"/>
            <a:ext cx="3566160" cy="7315"/>
          </a:xfrm>
          <a:prstGeom prst="rect">
            <a:avLst/>
          </a:prstGeom>
          <a:solidFill>
            <a:srgbClr val="1E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53712" y="280720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8B84B"/>
                </a:solidFill>
                <a:latin typeface="Syne"/>
              </a:rPr>
              <a:t>user_id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53712" y="3081528"/>
            <a:ext cx="3383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CA3AF"/>
                </a:solidFill>
                <a:latin typeface="DM Sans"/>
              </a:rPr>
              <a:t>BIGINT FK -&gt; users.id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480560" y="3465576"/>
            <a:ext cx="3566160" cy="7315"/>
          </a:xfrm>
          <a:prstGeom prst="rect">
            <a:avLst/>
          </a:prstGeom>
          <a:solidFill>
            <a:srgbClr val="1E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53712" y="3511296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8B84B"/>
                </a:solidFill>
                <a:latin typeface="Syne"/>
              </a:rPr>
              <a:t>name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53712" y="3785616"/>
            <a:ext cx="3383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CA3AF"/>
                </a:solidFill>
                <a:latin typeface="DM Sans"/>
              </a:rPr>
              <a:t>VARCHAR(120) NOT NULL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480560" y="4169664"/>
            <a:ext cx="3566160" cy="7315"/>
          </a:xfrm>
          <a:prstGeom prst="rect">
            <a:avLst/>
          </a:prstGeom>
          <a:solidFill>
            <a:srgbClr val="1E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553712" y="4215384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8B84B"/>
                </a:solidFill>
                <a:latin typeface="Syne"/>
              </a:rPr>
              <a:t>streak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53712" y="4489704"/>
            <a:ext cx="3383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CA3AF"/>
                </a:solidFill>
                <a:latin typeface="DM Sans"/>
              </a:rPr>
              <a:t>INT DEFAULT 0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480560" y="4873752"/>
            <a:ext cx="3566160" cy="7315"/>
          </a:xfrm>
          <a:prstGeom prst="rect">
            <a:avLst/>
          </a:prstGeom>
          <a:solidFill>
            <a:srgbClr val="1E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553712" y="491947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8B84B"/>
                </a:solidFill>
                <a:latin typeface="Syne"/>
              </a:rPr>
              <a:t>completion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53712" y="5193792"/>
            <a:ext cx="3383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CA3AF"/>
                </a:solidFill>
                <a:latin typeface="DM Sans"/>
              </a:rPr>
              <a:t>INT DEFAULT 0 (%)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480560" y="5577840"/>
            <a:ext cx="3566160" cy="7315"/>
          </a:xfrm>
          <a:prstGeom prst="rect">
            <a:avLst/>
          </a:prstGeom>
          <a:solidFill>
            <a:srgbClr val="1E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553712" y="56235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8B84B"/>
                </a:solidFill>
                <a:latin typeface="Syne"/>
              </a:rPr>
              <a:t>is_active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553712" y="5897880"/>
            <a:ext cx="3383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CA3AF"/>
                </a:solidFill>
                <a:latin typeface="DM Sans"/>
              </a:rPr>
              <a:t>TINYINT soft delete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321040" y="1508760"/>
            <a:ext cx="3749039" cy="5074920"/>
          </a:xfrm>
          <a:prstGeom prst="rect">
            <a:avLst/>
          </a:prstGeom>
          <a:solidFill>
            <a:srgbClr val="14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8321040" y="1508760"/>
            <a:ext cx="3749039" cy="475488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458200" y="160020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B0D14"/>
                </a:solidFill>
                <a:latin typeface="Syne"/>
              </a:rPr>
              <a:t>completions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485632" y="21031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18CF8"/>
                </a:solidFill>
                <a:latin typeface="Syne"/>
              </a:rPr>
              <a:t>id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485632" y="2377440"/>
            <a:ext cx="3383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CA3AF"/>
                </a:solidFill>
                <a:latin typeface="DM Sans"/>
              </a:rPr>
              <a:t>BIGINT PK AUTO_INCREMENT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412480" y="2761488"/>
            <a:ext cx="3566160" cy="7315"/>
          </a:xfrm>
          <a:prstGeom prst="rect">
            <a:avLst/>
          </a:prstGeom>
          <a:solidFill>
            <a:srgbClr val="1E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485632" y="280720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18CF8"/>
                </a:solidFill>
                <a:latin typeface="Syne"/>
              </a:rPr>
              <a:t>habit_id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485632" y="3081528"/>
            <a:ext cx="3383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CA3AF"/>
                </a:solidFill>
                <a:latin typeface="DM Sans"/>
              </a:rPr>
              <a:t>BIGINT FK -&gt; habits.id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412480" y="3465576"/>
            <a:ext cx="3566160" cy="7315"/>
          </a:xfrm>
          <a:prstGeom prst="rect">
            <a:avLst/>
          </a:prstGeom>
          <a:solidFill>
            <a:srgbClr val="1E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485632" y="3511296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18CF8"/>
                </a:solidFill>
                <a:latin typeface="Syne"/>
              </a:rPr>
              <a:t>user_id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485632" y="3785616"/>
            <a:ext cx="3383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CA3AF"/>
                </a:solidFill>
                <a:latin typeface="DM Sans"/>
              </a:rPr>
              <a:t>BIGINT FK -&gt; users.id</a:t>
            </a:r>
          </a:p>
        </p:txBody>
      </p:sp>
      <p:sp>
        <p:nvSpPr>
          <p:cNvPr id="58" name="Rectangle 57"/>
          <p:cNvSpPr/>
          <p:nvPr/>
        </p:nvSpPr>
        <p:spPr>
          <a:xfrm>
            <a:off x="8412480" y="4169664"/>
            <a:ext cx="3566160" cy="7315"/>
          </a:xfrm>
          <a:prstGeom prst="rect">
            <a:avLst/>
          </a:prstGeom>
          <a:solidFill>
            <a:srgbClr val="1E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485632" y="4215384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18CF8"/>
                </a:solidFill>
                <a:latin typeface="Syne"/>
              </a:rPr>
              <a:t>completed_on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485632" y="4489704"/>
            <a:ext cx="3383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CA3AF"/>
                </a:solidFill>
                <a:latin typeface="DM Sans"/>
              </a:rPr>
              <a:t>DATE NOT NULL</a:t>
            </a:r>
          </a:p>
        </p:txBody>
      </p:sp>
      <p:sp>
        <p:nvSpPr>
          <p:cNvPr id="61" name="Rectangle 60"/>
          <p:cNvSpPr/>
          <p:nvPr/>
        </p:nvSpPr>
        <p:spPr>
          <a:xfrm>
            <a:off x="8412480" y="4873752"/>
            <a:ext cx="3566160" cy="7315"/>
          </a:xfrm>
          <a:prstGeom prst="rect">
            <a:avLst/>
          </a:prstGeom>
          <a:solidFill>
            <a:srgbClr val="1E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485632" y="491947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18CF8"/>
                </a:solidFill>
                <a:latin typeface="Syne"/>
              </a:rPr>
              <a:t>UNIQUE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485632" y="5193792"/>
            <a:ext cx="3383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CA3AF"/>
                </a:solidFill>
                <a:latin typeface="DM Sans"/>
              </a:rPr>
              <a:t>(habit_id, completed_on)</a:t>
            </a:r>
          </a:p>
        </p:txBody>
      </p:sp>
      <p:sp>
        <p:nvSpPr>
          <p:cNvPr id="64" name="Rectangle 63"/>
          <p:cNvSpPr/>
          <p:nvPr/>
        </p:nvSpPr>
        <p:spPr>
          <a:xfrm>
            <a:off x="8412480" y="5577840"/>
            <a:ext cx="3566160" cy="7315"/>
          </a:xfrm>
          <a:prstGeom prst="rect">
            <a:avLst/>
          </a:prstGeom>
          <a:solidFill>
            <a:srgbClr val="1E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8485632" y="56235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18CF8"/>
                </a:solidFill>
                <a:latin typeface="Syne"/>
              </a:rPr>
              <a:t>created_at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485632" y="5897880"/>
            <a:ext cx="3383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CA3AF"/>
                </a:solidFill>
                <a:latin typeface="DM Sans"/>
              </a:rPr>
              <a:t>TIMESTAMP DEFAULT NOW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224528" y="3474720"/>
            <a:ext cx="685800" cy="7315"/>
          </a:xfrm>
          <a:prstGeom prst="rect">
            <a:avLst/>
          </a:prstGeom>
          <a:solidFill>
            <a:srgbClr val="1E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7891272" y="3474720"/>
            <a:ext cx="685800" cy="7315"/>
          </a:xfrm>
          <a:prstGeom prst="rect">
            <a:avLst/>
          </a:prstGeom>
          <a:solidFill>
            <a:srgbClr val="1E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4251960" y="370332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4B5563"/>
                </a:solidFill>
                <a:latin typeface="DM Sans"/>
              </a:rPr>
              <a:t>habits.user_id -&gt; users.id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863840" y="370332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4B5563"/>
                </a:solidFill>
                <a:latin typeface="DM Sans"/>
              </a:rPr>
              <a:t>completions.habit_id -&gt; habits.id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4B5563"/>
                </a:solidFill>
                <a:latin typeface="Syne"/>
              </a:rPr>
              <a:t>08 /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0D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18CF8"/>
                </a:solidFill>
                <a:latin typeface="Syne"/>
              </a:rPr>
              <a:t>07  UI / UX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Syne"/>
              </a:rPr>
              <a:t>Design Philosophy &amp; Screens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71600"/>
            <a:ext cx="11155680" cy="7315"/>
          </a:xfrm>
          <a:prstGeom prst="rect">
            <a:avLst/>
          </a:prstGeom>
          <a:solidFill>
            <a:srgbClr val="1E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554480"/>
            <a:ext cx="5669280" cy="1261872"/>
          </a:xfrm>
          <a:prstGeom prst="rect">
            <a:avLst/>
          </a:prstGeom>
          <a:solidFill>
            <a:srgbClr val="14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554480"/>
            <a:ext cx="5669280" cy="45720"/>
          </a:xfrm>
          <a:prstGeom prst="rect">
            <a:avLst/>
          </a:prstGeom>
          <a:solidFill>
            <a:srgbClr val="22D3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69164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Syne"/>
              </a:rPr>
              <a:t>Dark-First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57400"/>
            <a:ext cx="53035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CA3AF"/>
                </a:solidFill>
                <a:latin typeface="DM Sans"/>
              </a:rPr>
              <a:t>Deep #0b0d14 background with warm gold (#E8B84B) and teal (#22d3a8) accents. Premium fitness app feel inspired by cult.fit.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5080" y="1554480"/>
            <a:ext cx="5669280" cy="1261872"/>
          </a:xfrm>
          <a:prstGeom prst="rect">
            <a:avLst/>
          </a:prstGeom>
          <a:solidFill>
            <a:srgbClr val="14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55080" y="1554480"/>
            <a:ext cx="5669280" cy="45720"/>
          </a:xfrm>
          <a:prstGeom prst="rect">
            <a:avLst/>
          </a:prstGeom>
          <a:solidFill>
            <a:srgbClr val="E8B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37960" y="169164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Syne"/>
              </a:rPr>
              <a:t>Typography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2057400"/>
            <a:ext cx="53035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CA3AF"/>
                </a:solidFill>
                <a:latin typeface="DM Sans"/>
              </a:rPr>
              <a:t>Syne (headings, labels) paired with DM Sans (body text). Strict size hierarchy: 32pt titles, 13pt body, 10pt captions.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971800"/>
            <a:ext cx="5669280" cy="1261872"/>
          </a:xfrm>
          <a:prstGeom prst="rect">
            <a:avLst/>
          </a:prstGeom>
          <a:solidFill>
            <a:srgbClr val="14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2971800"/>
            <a:ext cx="5669280" cy="45720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10896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Syne"/>
              </a:rPr>
              <a:t>Component System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3474720"/>
            <a:ext cx="53035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CA3AF"/>
                </a:solidFill>
                <a:latin typeface="DM Sans"/>
              </a:rPr>
              <a:t>Reusable .card, .habit-row, .btn-gold, .modal, .toast classes. CSS variables ensure one-point color changes.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55080" y="2971800"/>
            <a:ext cx="5669280" cy="1261872"/>
          </a:xfrm>
          <a:prstGeom prst="rect">
            <a:avLst/>
          </a:prstGeom>
          <a:solidFill>
            <a:srgbClr val="14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55080" y="2971800"/>
            <a:ext cx="5669280" cy="45720"/>
          </a:xfrm>
          <a:prstGeom prst="rect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37960" y="310896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Syne"/>
              </a:rPr>
              <a:t>Responsive Layout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7960" y="3474720"/>
            <a:ext cx="53035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CA3AF"/>
                </a:solidFill>
                <a:latin typeface="DM Sans"/>
              </a:rPr>
              <a:t>Three breakpoints: desktop sidebar (&gt;1100px), icon sidebar (769-1100px), mobile bottom nav (&lt;768px).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46177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B5563"/>
                </a:solidFill>
                <a:latin typeface="Syne"/>
              </a:rPr>
              <a:t>COLOR PALETTE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4965192"/>
            <a:ext cx="1261872" cy="658368"/>
          </a:xfrm>
          <a:prstGeom prst="rect">
            <a:avLst/>
          </a:prstGeom>
          <a:solidFill>
            <a:srgbClr val="0B0D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5641848"/>
            <a:ext cx="126187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9CA3AF"/>
                </a:solidFill>
                <a:latin typeface="DM Sans"/>
              </a:rPr>
              <a:t>#0b0d14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5852160"/>
            <a:ext cx="126187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9CA3AF"/>
                </a:solidFill>
                <a:latin typeface="Syne"/>
              </a:rPr>
              <a:t>BG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874519" y="4965192"/>
            <a:ext cx="1261872" cy="658368"/>
          </a:xfrm>
          <a:prstGeom prst="rect">
            <a:avLst/>
          </a:prstGeom>
          <a:solidFill>
            <a:srgbClr val="14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874519" y="5641848"/>
            <a:ext cx="126187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9CA3AF"/>
                </a:solidFill>
                <a:latin typeface="DM Sans"/>
              </a:rPr>
              <a:t>#141820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74519" y="5852160"/>
            <a:ext cx="126187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9CA3AF"/>
                </a:solidFill>
                <a:latin typeface="Syne"/>
              </a:rPr>
              <a:t>Surface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91840" y="4965192"/>
            <a:ext cx="1261872" cy="658368"/>
          </a:xfrm>
          <a:prstGeom prst="rect">
            <a:avLst/>
          </a:prstGeom>
          <a:solidFill>
            <a:srgbClr val="E8B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291840" y="5641848"/>
            <a:ext cx="126187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9CA3AF"/>
                </a:solidFill>
                <a:latin typeface="DM Sans"/>
              </a:rPr>
              <a:t>#E8B84B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291840" y="5852160"/>
            <a:ext cx="126187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9CA3AF"/>
                </a:solidFill>
                <a:latin typeface="Syne"/>
              </a:rPr>
              <a:t>Gold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709160" y="4965192"/>
            <a:ext cx="1261872" cy="658368"/>
          </a:xfrm>
          <a:prstGeom prst="rect">
            <a:avLst/>
          </a:prstGeom>
          <a:solidFill>
            <a:srgbClr val="22D3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709160" y="5641848"/>
            <a:ext cx="126187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9CA3AF"/>
                </a:solidFill>
                <a:latin typeface="DM Sans"/>
              </a:rPr>
              <a:t>#22d3a8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709160" y="5852160"/>
            <a:ext cx="126187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9CA3AF"/>
                </a:solidFill>
                <a:latin typeface="Syne"/>
              </a:rPr>
              <a:t>Teal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26480" y="4965192"/>
            <a:ext cx="1261872" cy="658368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126480" y="5641848"/>
            <a:ext cx="126187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9CA3AF"/>
                </a:solidFill>
                <a:latin typeface="DM Sans"/>
              </a:rPr>
              <a:t>#818cf8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126480" y="5852160"/>
            <a:ext cx="126187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9CA3AF"/>
                </a:solidFill>
                <a:latin typeface="Syne"/>
              </a:rPr>
              <a:t>Indigo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543800" y="4965192"/>
            <a:ext cx="1261872" cy="658368"/>
          </a:xfrm>
          <a:prstGeom prst="rect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543800" y="5641848"/>
            <a:ext cx="126187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9CA3AF"/>
                </a:solidFill>
                <a:latin typeface="DM Sans"/>
              </a:rPr>
              <a:t>#f472b6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543800" y="5852160"/>
            <a:ext cx="126187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9CA3AF"/>
                </a:solidFill>
                <a:latin typeface="Syne"/>
              </a:rPr>
              <a:t>Pink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961120" y="4965192"/>
            <a:ext cx="1261872" cy="658368"/>
          </a:xfrm>
          <a:prstGeom prst="rect">
            <a:avLst/>
          </a:prstGeom>
          <a:solidFill>
            <a:srgbClr val="F0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961120" y="5641848"/>
            <a:ext cx="126187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9CA3AF"/>
                </a:solidFill>
                <a:latin typeface="DM Sans"/>
              </a:rPr>
              <a:t>#f0f2f8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961120" y="5852160"/>
            <a:ext cx="126187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9CA3AF"/>
                </a:solidFill>
                <a:latin typeface="Syne"/>
              </a:rPr>
              <a:t>Text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0378440" y="4965192"/>
            <a:ext cx="1261872" cy="658368"/>
          </a:xfrm>
          <a:prstGeom prst="rect">
            <a:avLst/>
          </a:prstGeom>
          <a:solidFill>
            <a:srgbClr val="9CA3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378440" y="5641848"/>
            <a:ext cx="126187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9CA3AF"/>
                </a:solidFill>
                <a:latin typeface="DM Sans"/>
              </a:rPr>
              <a:t>#9ca3af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378440" y="5852160"/>
            <a:ext cx="126187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9CA3AF"/>
                </a:solidFill>
                <a:latin typeface="Syne"/>
              </a:rPr>
              <a:t>Muted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4B5563"/>
                </a:solidFill>
                <a:latin typeface="Syne"/>
              </a:rPr>
              <a:t>09 /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0D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472B6"/>
                </a:solidFill>
                <a:latin typeface="Syne"/>
              </a:rPr>
              <a:t>08  AI INTEGRATION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Syne"/>
              </a:rPr>
              <a:t>Motivation Engine &amp; Insights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71600"/>
            <a:ext cx="11155680" cy="7315"/>
          </a:xfrm>
          <a:prstGeom prst="rect">
            <a:avLst/>
          </a:prstGeom>
          <a:solidFill>
            <a:srgbClr val="1E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536192"/>
            <a:ext cx="11064240" cy="1371600"/>
          </a:xfrm>
          <a:prstGeom prst="rect">
            <a:avLst/>
          </a:prstGeom>
          <a:solidFill>
            <a:srgbClr val="14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536192"/>
            <a:ext cx="64008" cy="1371600"/>
          </a:xfrm>
          <a:prstGeom prst="rect">
            <a:avLst/>
          </a:prstGeom>
          <a:solidFill>
            <a:srgbClr val="E8B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627632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8B84B"/>
                </a:solidFill>
                <a:latin typeface="Syne"/>
              </a:rPr>
              <a:t>AI COACH  —  Sample Output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938528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FFFFFF"/>
                </a:solidFill>
                <a:latin typeface="DM Sans"/>
              </a:rPr>
              <a:t>"Siddhartha, your best streak is 15 days. Every champion was once a beginner who refused to quit. Coding leads at 92% — you are 35 days away from the Legend badge. Keep stacking those wins."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3154680"/>
            <a:ext cx="3749039" cy="2057400"/>
          </a:xfrm>
          <a:prstGeom prst="rect">
            <a:avLst/>
          </a:prstGeom>
          <a:solidFill>
            <a:srgbClr val="14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3154680"/>
            <a:ext cx="3749039" cy="50292"/>
          </a:xfrm>
          <a:prstGeom prst="rect">
            <a:avLst/>
          </a:prstGeom>
          <a:solidFill>
            <a:srgbClr val="E8B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85800" y="3319272"/>
            <a:ext cx="438912" cy="438912"/>
          </a:xfrm>
          <a:prstGeom prst="ellipse">
            <a:avLst/>
          </a:prstGeom>
          <a:solidFill>
            <a:srgbClr val="2E24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3319272"/>
            <a:ext cx="4389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E8B84B"/>
                </a:solidFill>
                <a:latin typeface="Syne"/>
              </a:rPr>
              <a:t>QUOT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3867912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yne"/>
              </a:rPr>
              <a:t>Personalized Quotes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4251960"/>
            <a:ext cx="33832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CA3AF"/>
                </a:solidFill>
                <a:latin typeface="DM Sans"/>
              </a:rPr>
              <a:t>Quotes incorporate the user's first name extracted from their auth profile and their live best streak number.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416552" y="3154680"/>
            <a:ext cx="3749039" cy="2057400"/>
          </a:xfrm>
          <a:prstGeom prst="rect">
            <a:avLst/>
          </a:prstGeom>
          <a:solidFill>
            <a:srgbClr val="14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416552" y="3154680"/>
            <a:ext cx="3749039" cy="50292"/>
          </a:xfrm>
          <a:prstGeom prst="rect">
            <a:avLst/>
          </a:prstGeom>
          <a:solidFill>
            <a:srgbClr val="22D3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599432" y="3319272"/>
            <a:ext cx="438912" cy="438912"/>
          </a:xfrm>
          <a:prstGeom prst="ellipse">
            <a:avLst/>
          </a:prstGeom>
          <a:solidFill>
            <a:srgbClr val="0D2E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99432" y="3319272"/>
            <a:ext cx="4389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2D3A8"/>
                </a:solidFill>
                <a:latin typeface="Syne"/>
              </a:rPr>
              <a:t>TIPS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99432" y="3867912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yne"/>
              </a:rPr>
              <a:t>Habit-Specific Tips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99432" y="4251960"/>
            <a:ext cx="33832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CA3AF"/>
                </a:solidFill>
                <a:latin typeface="DM Sans"/>
              </a:rPr>
              <a:t>Each habit generates its own insight: streak strength, next badge distance, best-time-of-day recommendation.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330184" y="3154680"/>
            <a:ext cx="3749039" cy="2057400"/>
          </a:xfrm>
          <a:prstGeom prst="rect">
            <a:avLst/>
          </a:prstGeom>
          <a:solidFill>
            <a:srgbClr val="14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330184" y="3154680"/>
            <a:ext cx="3749039" cy="50292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513064" y="3319272"/>
            <a:ext cx="438912" cy="438912"/>
          </a:xfrm>
          <a:prstGeom prst="ellipse">
            <a:avLst/>
          </a:prstGeom>
          <a:solidFill>
            <a:srgbClr val="1A1C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13064" y="3319272"/>
            <a:ext cx="4389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818CF8"/>
                </a:solidFill>
                <a:latin typeface="Syne"/>
              </a:rPr>
              <a:t>SCI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13064" y="3867912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yne"/>
              </a:rPr>
              <a:t>Habit Science Cards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13064" y="4251960"/>
            <a:ext cx="33832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CA3AF"/>
                </a:solidFill>
                <a:latin typeface="DM Sans"/>
              </a:rPr>
              <a:t>66-day rule, habit stacking, miss-once-never-twice — science tips that educate and sustain motivation.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5440680"/>
            <a:ext cx="11064240" cy="1143000"/>
          </a:xfrm>
          <a:prstGeom prst="rect">
            <a:avLst/>
          </a:prstGeom>
          <a:solidFill>
            <a:srgbClr val="0D1B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48640" y="5440680"/>
            <a:ext cx="64008" cy="1143000"/>
          </a:xfrm>
          <a:prstGeom prst="rect">
            <a:avLst/>
          </a:prstGeom>
          <a:solidFill>
            <a:srgbClr val="22D3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77240" y="55321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2D3A8"/>
                </a:solidFill>
                <a:latin typeface="Syne"/>
              </a:rPr>
              <a:t>BONUS FEATURE — Hackathon Differentiator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7240" y="5833872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CA3AF"/>
                </a:solidFill>
                <a:latin typeface="DM Sans"/>
              </a:rPr>
              <a:t>The AI coach is the only feature in the problem statement marked as a bonus — we built it fully. It uses the Anthropic Claude API endpoint (/v1/messages) to generate real-time personalized motivational messages when connected to the backend.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4B5563"/>
                </a:solidFill>
                <a:latin typeface="Syne"/>
              </a:rPr>
              <a:t>10 /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0D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2D3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2D3A8"/>
                </a:solidFill>
                <a:latin typeface="Syne"/>
              </a:rPr>
              <a:t>09  OUTCOMES &amp;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Syne"/>
              </a:rPr>
              <a:t>What Was Achieved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71600"/>
            <a:ext cx="11155680" cy="7315"/>
          </a:xfrm>
          <a:prstGeom prst="rect">
            <a:avLst/>
          </a:prstGeom>
          <a:solidFill>
            <a:srgbClr val="1E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508760"/>
            <a:ext cx="2788920" cy="1508760"/>
          </a:xfrm>
          <a:prstGeom prst="rect">
            <a:avLst/>
          </a:prstGeom>
          <a:solidFill>
            <a:srgbClr val="14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508760"/>
            <a:ext cx="2788920" cy="50292"/>
          </a:xfrm>
          <a:prstGeom prst="rect">
            <a:avLst/>
          </a:prstGeom>
          <a:solidFill>
            <a:srgbClr val="22D3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691640"/>
            <a:ext cx="2423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600" b="1" i="0">
                <a:solidFill>
                  <a:srgbClr val="22D3A8"/>
                </a:solidFill>
                <a:latin typeface="Syne"/>
              </a:rPr>
              <a:t>16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560320"/>
            <a:ext cx="2606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CA3AF"/>
                </a:solidFill>
                <a:latin typeface="DM Sans"/>
              </a:rPr>
              <a:t>React files built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01568" y="1508760"/>
            <a:ext cx="2788920" cy="1508760"/>
          </a:xfrm>
          <a:prstGeom prst="rect">
            <a:avLst/>
          </a:prstGeom>
          <a:solidFill>
            <a:srgbClr val="14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401568" y="1508760"/>
            <a:ext cx="2788920" cy="50292"/>
          </a:xfrm>
          <a:prstGeom prst="rect">
            <a:avLst/>
          </a:prstGeom>
          <a:solidFill>
            <a:srgbClr val="E8B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84448" y="1691640"/>
            <a:ext cx="2423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600" b="1" i="0">
                <a:solidFill>
                  <a:srgbClr val="E8B84B"/>
                </a:solidFill>
                <a:latin typeface="Syne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93008" y="2560320"/>
            <a:ext cx="2606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CA3AF"/>
                </a:solidFill>
                <a:latin typeface="DM Sans"/>
              </a:rPr>
              <a:t>MySQL tables designed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45936" y="1508760"/>
            <a:ext cx="2788920" cy="1508760"/>
          </a:xfrm>
          <a:prstGeom prst="rect">
            <a:avLst/>
          </a:prstGeom>
          <a:solidFill>
            <a:srgbClr val="14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45936" y="1508760"/>
            <a:ext cx="2788920" cy="50292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28816" y="1691640"/>
            <a:ext cx="2423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600" b="1" i="0">
                <a:solidFill>
                  <a:srgbClr val="818CF8"/>
                </a:solidFill>
                <a:latin typeface="Syne"/>
              </a:rPr>
              <a:t>10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37376" y="2560320"/>
            <a:ext cx="2606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CA3AF"/>
                </a:solidFill>
                <a:latin typeface="DM Sans"/>
              </a:rPr>
              <a:t>Achievements system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290304" y="1508760"/>
            <a:ext cx="2788920" cy="1508760"/>
          </a:xfrm>
          <a:prstGeom prst="rect">
            <a:avLst/>
          </a:prstGeom>
          <a:solidFill>
            <a:srgbClr val="14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290304" y="1508760"/>
            <a:ext cx="2788920" cy="50292"/>
          </a:xfrm>
          <a:prstGeom prst="rect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73184" y="1691640"/>
            <a:ext cx="2423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600" b="1" i="0">
                <a:solidFill>
                  <a:srgbClr val="F472B6"/>
                </a:solidFill>
                <a:latin typeface="Syne"/>
              </a:rPr>
              <a:t>100%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81744" y="2560320"/>
            <a:ext cx="2606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CA3AF"/>
                </a:solidFill>
                <a:latin typeface="DM Sans"/>
              </a:rPr>
              <a:t>Mobile responsive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3246120"/>
            <a:ext cx="5669280" cy="1417320"/>
          </a:xfrm>
          <a:prstGeom prst="rect">
            <a:avLst/>
          </a:prstGeom>
          <a:solidFill>
            <a:srgbClr val="14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7200" y="3246120"/>
            <a:ext cx="50292" cy="1417320"/>
          </a:xfrm>
          <a:prstGeom prst="rect">
            <a:avLst/>
          </a:prstGeom>
          <a:solidFill>
            <a:srgbClr val="22D3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8368" y="3374136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yne"/>
              </a:rPr>
              <a:t>Fresh Start Architecture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3749040"/>
            <a:ext cx="530352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CA3AF"/>
                </a:solidFill>
                <a:latin typeface="DM Sans"/>
              </a:rPr>
              <a:t>Every new user receives an empty app with no mock data. Habits, streaks, and achievements all start at absolute zero and are built entirely by the user's own actions.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55080" y="3246120"/>
            <a:ext cx="5669280" cy="1417320"/>
          </a:xfrm>
          <a:prstGeom prst="rect">
            <a:avLst/>
          </a:prstGeom>
          <a:solidFill>
            <a:srgbClr val="14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355080" y="3246120"/>
            <a:ext cx="50292" cy="1417320"/>
          </a:xfrm>
          <a:prstGeom prst="rect">
            <a:avLst/>
          </a:prstGeom>
          <a:solidFill>
            <a:srgbClr val="E8B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56248" y="3374136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yne"/>
              </a:rPr>
              <a:t>Interactive Calendar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56248" y="3749040"/>
            <a:ext cx="530352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CA3AF"/>
                </a:solidFill>
                <a:latin typeface="DM Sans"/>
              </a:rPr>
              <a:t>The statistics page features a full navigable month calendar. Clicking any past date reveals a detail panel showing completed and missed habits for that specific day.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4800600"/>
            <a:ext cx="5669280" cy="1417320"/>
          </a:xfrm>
          <a:prstGeom prst="rect">
            <a:avLst/>
          </a:prstGeom>
          <a:solidFill>
            <a:srgbClr val="14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57200" y="4800600"/>
            <a:ext cx="50292" cy="1417320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8368" y="4928616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yne"/>
              </a:rPr>
              <a:t>Real Achievement System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" y="5303520"/>
            <a:ext cx="530352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CA3AF"/>
                </a:solidFill>
                <a:latin typeface="DM Sans"/>
              </a:rPr>
              <a:t>All 10 achievements are locked at signup. They unlock automatically when real conditions are met — for example, First Step unlocks when the user adds their first habit.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355080" y="4800600"/>
            <a:ext cx="5669280" cy="1417320"/>
          </a:xfrm>
          <a:prstGeom prst="rect">
            <a:avLst/>
          </a:prstGeom>
          <a:solidFill>
            <a:srgbClr val="14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355080" y="4800600"/>
            <a:ext cx="50292" cy="1417320"/>
          </a:xfrm>
          <a:prstGeom prst="rect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56248" y="4928616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yne"/>
              </a:rPr>
              <a:t>Dual Auth Working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56248" y="5303520"/>
            <a:ext cx="530352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CA3AF"/>
                </a:solidFill>
                <a:latin typeface="DM Sans"/>
              </a:rPr>
              <a:t>Both email/password and Google OAuth are fully implemented. Users can sign up, sign in, and their data is completely isolated from other accounts on the same machine.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4B5563"/>
                </a:solidFill>
                <a:latin typeface="Syne"/>
              </a:rPr>
              <a:t>11 /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0D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858000" y="-1828800"/>
            <a:ext cx="8229600" cy="8229600"/>
          </a:xfrm>
          <a:prstGeom prst="ellipse">
            <a:avLst/>
          </a:prstGeom>
          <a:solidFill>
            <a:srgbClr val="1014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029200" cy="54864"/>
          </a:xfrm>
          <a:prstGeom prst="rect">
            <a:avLst/>
          </a:prstGeom>
          <a:solidFill>
            <a:srgbClr val="E8B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5943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8B84B"/>
                </a:solidFill>
                <a:latin typeface="Syne"/>
              </a:rPr>
              <a:t>HABIT.FIT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051560"/>
            <a:ext cx="7315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Syne"/>
              </a:rPr>
              <a:t>Conclusion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810512"/>
            <a:ext cx="5029200" cy="7315"/>
          </a:xfrm>
          <a:prstGeom prst="rect">
            <a:avLst/>
          </a:prstGeom>
          <a:solidFill>
            <a:srgbClr val="1E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965960"/>
            <a:ext cx="65836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CA3AF"/>
                </a:solidFill>
                <a:latin typeface="DM Sans"/>
              </a:rPr>
              <a:t>HABIT.FIT is a complete, production-ready daily habit tracker that solves the core problem of habit inconsistency through a structured, motivating, and personalized digital experience.
The application demonstrates full-stack engineering competency — React frontend, Java Spring Boot API, MySQL database, JWT authentication, Google OAuth, and an AI coaching layer — all built as separate, deployable components.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4050791"/>
            <a:ext cx="128016" cy="320040"/>
          </a:xfrm>
          <a:prstGeom prst="rect">
            <a:avLst/>
          </a:prstGeom>
          <a:solidFill>
            <a:srgbClr val="E8B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3977639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8B84B"/>
                </a:solidFill>
                <a:latin typeface="Syne"/>
              </a:rPr>
              <a:t>Problem addressed: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71800" y="3977639"/>
            <a:ext cx="4206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DM Sans"/>
              </a:rPr>
              <a:t>Habit inconsistency solved with streaks, achievements, visual analytics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4645152"/>
            <a:ext cx="128016" cy="320040"/>
          </a:xfrm>
          <a:prstGeom prst="rect">
            <a:avLst/>
          </a:prstGeom>
          <a:solidFill>
            <a:srgbClr val="E8B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4572000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8B84B"/>
                </a:solidFill>
                <a:latin typeface="Syne"/>
              </a:rPr>
              <a:t>Tech excellence: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71800" y="4572000"/>
            <a:ext cx="4206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DM Sans"/>
              </a:rPr>
              <a:t>React + Java + MySQL full-stack, JWT auth, Google OAuth, REST API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5239511"/>
            <a:ext cx="128016" cy="320040"/>
          </a:xfrm>
          <a:prstGeom prst="rect">
            <a:avLst/>
          </a:prstGeom>
          <a:solidFill>
            <a:srgbClr val="E8B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5166359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8B84B"/>
                </a:solidFill>
                <a:latin typeface="Syne"/>
              </a:rPr>
              <a:t>User-first design: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71800" y="5166359"/>
            <a:ext cx="4206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DM Sans"/>
              </a:rPr>
              <a:t>Fresh start, real data only, responsive on all devices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5833872"/>
            <a:ext cx="128016" cy="320040"/>
          </a:xfrm>
          <a:prstGeom prst="rect">
            <a:avLst/>
          </a:prstGeom>
          <a:solidFill>
            <a:srgbClr val="E8B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2688" y="5760720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8B84B"/>
                </a:solidFill>
                <a:latin typeface="Syne"/>
              </a:rPr>
              <a:t>Bonus delivered: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71800" y="5760720"/>
            <a:ext cx="4206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DM Sans"/>
              </a:rPr>
              <a:t>AI coach with personalized name + streak insights — the differentiator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818120" y="1508760"/>
            <a:ext cx="4069080" cy="5120640"/>
          </a:xfrm>
          <a:prstGeom prst="rect">
            <a:avLst/>
          </a:prstGeom>
          <a:solidFill>
            <a:srgbClr val="1014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818120" y="1508760"/>
            <a:ext cx="4069080" cy="54864"/>
          </a:xfrm>
          <a:prstGeom prst="rect">
            <a:avLst/>
          </a:prstGeom>
          <a:solidFill>
            <a:srgbClr val="E8B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098280" y="1965960"/>
            <a:ext cx="1508760" cy="1508760"/>
          </a:xfrm>
          <a:prstGeom prst="ellipse">
            <a:avLst/>
          </a:prstGeom>
          <a:solidFill>
            <a:srgbClr val="E8B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98280" y="2148840"/>
            <a:ext cx="1508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0B0D14"/>
                </a:solidFill>
                <a:latin typeface="Syne"/>
              </a:rPr>
              <a:t>SG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55279" y="3657600"/>
            <a:ext cx="3794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E8B84B"/>
                </a:solidFill>
                <a:latin typeface="Syne"/>
              </a:rPr>
              <a:t>Siddhartha Gajjela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55279" y="4114800"/>
            <a:ext cx="3794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9CA3AF"/>
                </a:solidFill>
                <a:latin typeface="DM Sans"/>
              </a:rPr>
              <a:t>Full Stack Developer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955279" y="4617720"/>
            <a:ext cx="3657600" cy="7315"/>
          </a:xfrm>
          <a:prstGeom prst="rect">
            <a:avLst/>
          </a:prstGeom>
          <a:solidFill>
            <a:srgbClr val="1E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55279" y="4709160"/>
            <a:ext cx="3794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CA3AF"/>
                </a:solidFill>
                <a:latin typeface="DM Sans"/>
              </a:rPr>
              <a:t>Java Cohort — Internal Hackathon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55279" y="5056632"/>
            <a:ext cx="3794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CA3AF"/>
                </a:solidFill>
                <a:latin typeface="DM Sans"/>
              </a:rPr>
              <a:t>Problem Statement 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955279" y="5404104"/>
            <a:ext cx="3794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CA3AF"/>
                </a:solidFill>
                <a:latin typeface="DM Sans"/>
              </a:rPr>
              <a:t>Daily Habit Tracker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955279" y="5806440"/>
            <a:ext cx="3794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22D3A8"/>
                </a:solidFill>
                <a:latin typeface="Syne"/>
              </a:rPr>
              <a:t>Thank You!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4B5563"/>
                </a:solidFill>
                <a:latin typeface="Syne"/>
              </a:rPr>
              <a:t>12 /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